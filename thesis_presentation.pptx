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Frame the problem as a usability gap: Brane is powerful for privacy-preserving workflows, but writing correct BraneScript remains a barrier for domain scientists.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Highlight the nonlinear improvement with scale: the step from 9B to 27B changes the error profile from compile failures to mostly harder semantic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Stress that prompt engineering matters almost as much as scale here, while also flagging the confound: retrieval, prompting, and decomposition evolved together between rounds.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Present this as a useful negative result: when the supervision comes from the same imperfect pipeline, fine-tuning can reinforce errors instead of adding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Explain the cache as a reproducibility layer rather than just an optimisation: equivalent intents resolve to the same workflow unless similarity falls below the confidence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jp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jpg"/><Relationship Id="rId4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C00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49808"/>
            <a:ext cx="10515600" cy="1417320"/>
          </a:xfrm>
          <a:prstGeom prst="rect">
            <a:avLst/>
          </a:prstGeom>
          <a:noFill/>
        </p:spPr>
        <p:txBody>
          <a:bodyPr wrap="square" anchor="ctr" lIns="54864" tIns="36576" rIns="54864" bIns="36576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NLP-to-BraneScript Translation
for Distributed Scientific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54680" y="2267712"/>
            <a:ext cx="5852160" cy="384048"/>
          </a:xfrm>
          <a:prstGeom prst="rect">
            <a:avLst/>
          </a:prstGeom>
          <a:noFill/>
        </p:spPr>
        <p:txBody>
          <a:bodyPr wrap="square" anchor="t" lIns="54864" tIns="36576" rIns="54864" bIns="36576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Calibri"/>
              </a:rPr>
              <a:t>Master's Thesis Defence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670048"/>
            <a:ext cx="6675120" cy="329184"/>
          </a:xfrm>
          <a:prstGeom prst="rect">
            <a:avLst/>
          </a:prstGeom>
          <a:noFill/>
        </p:spPr>
        <p:txBody>
          <a:bodyPr wrap="square" anchor="t" lIns="54864" tIns="36576" rIns="54864" bIns="36576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University of Amsterdam · 2025</a:t>
            </a:r>
          </a:p>
        </p:txBody>
      </p:sp>
      <p:pic>
        <p:nvPicPr>
          <p:cNvPr id="5" name="Picture 4" descr="uv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379476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078992"/>
            <a:ext cx="73152" cy="544068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16736"/>
            <a:ext cx="4892040" cy="4206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BC0031"/>
                </a:solidFill>
                <a:latin typeface="Calibri"/>
              </a:rPr>
              <a:t>• </a:t>
            </a:r>
            <a:r>
              <a:rPr sz="1700">
                <a:solidFill>
                  <a:srgbClr val="222222"/>
                </a:solidFill>
                <a:latin typeface="Calibri"/>
              </a:rPr>
              <a:t>Brane: federated workflow framework — data stays local, computations travel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BC0031"/>
                </a:solidFill>
                <a:latin typeface="Calibri"/>
              </a:rPr>
              <a:t>• </a:t>
            </a:r>
            <a:r>
              <a:rPr sz="1700">
                <a:solidFill>
                  <a:srgbClr val="222222"/>
                </a:solidFill>
                <a:latin typeface="Calibri"/>
              </a:rPr>
              <a:t>Workflows written in BraneScript, a custom domain-specific language (DSL)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BC0031"/>
                </a:solidFill>
                <a:latin typeface="Calibri"/>
              </a:rPr>
              <a:t>• </a:t>
            </a:r>
            <a:r>
              <a:rPr sz="1700">
                <a:solidFill>
                  <a:srgbClr val="222222"/>
                </a:solidFill>
                <a:latin typeface="Calibri"/>
              </a:rPr>
              <a:t>Barrier: scientists must learn DSL syntax to run analyses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BC0031"/>
                </a:solidFill>
                <a:latin typeface="Calibri"/>
              </a:rPr>
              <a:t>• </a:t>
            </a:r>
            <a:r>
              <a:rPr sz="1700">
                <a:solidFill>
                  <a:srgbClr val="222222"/>
                </a:solidFill>
                <a:latin typeface="Calibri"/>
              </a:rPr>
              <a:t>Goal: translate plain-English intent → working BraneScript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61888" y="1261872"/>
            <a:ext cx="1188720" cy="384048"/>
          </a:xfrm>
          <a:prstGeom prst="round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16752" y="1307592"/>
            <a:ext cx="1078992" cy="256032"/>
          </a:xfrm>
          <a:prstGeom prst="rect">
            <a:avLst/>
          </a:prstGeom>
          <a:noFill/>
        </p:spPr>
        <p:txBody>
          <a:bodyPr wrap="square" anchor="ctr" lIns="54864" tIns="36576" rIns="54864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737360"/>
            <a:ext cx="5669280" cy="1078992"/>
          </a:xfrm>
          <a:prstGeom prst="roundRect">
            <a:avLst/>
          </a:prstGeom>
          <a:solidFill>
            <a:srgbClr val="EAF4FB"/>
          </a:solidFill>
          <a:ln w="19050">
            <a:solidFill>
              <a:srgbClr val="6E8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2011680"/>
            <a:ext cx="5303520" cy="502920"/>
          </a:xfrm>
          <a:prstGeom prst="rect">
            <a:avLst/>
          </a:prstGeom>
          <a:noFill/>
        </p:spPr>
        <p:txBody>
          <a:bodyPr wrap="square" anchor="ctr" lIns="54864" tIns="36576" rIns="54864" bIns="36576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Calibri"/>
              </a:rPr>
              <a:t>"Compute the mean age of diabetic patients"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1583" y="2852928"/>
            <a:ext cx="320040" cy="320040"/>
          </a:xfrm>
          <a:prstGeom prst="rect">
            <a:avLst/>
          </a:prstGeom>
          <a:noFill/>
        </p:spPr>
        <p:txBody>
          <a:bodyPr wrap="square" anchor="t" lIns="54864" tIns="36576" rIns="54864" bIns="36576">
            <a:spAutoFit/>
          </a:bodyPr>
          <a:lstStyle/>
          <a:p>
            <a:pPr algn="ctr"/>
            <a:r>
              <a:rPr sz="2400" b="1">
                <a:solidFill>
                  <a:srgbClr val="BC0031"/>
                </a:solidFill>
                <a:latin typeface="Calibr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04688" y="3218688"/>
            <a:ext cx="6035040" cy="1755648"/>
          </a:xfrm>
          <a:prstGeom prst="roundRect">
            <a:avLst/>
          </a:prstGeom>
          <a:solidFill>
            <a:srgbClr val="EAF4FB"/>
          </a:solidFill>
          <a:ln w="19050">
            <a:solidFill>
              <a:srgbClr val="6E8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42432" y="3456432"/>
            <a:ext cx="5532120" cy="1243584"/>
          </a:xfrm>
          <a:prstGeom prst="rect">
            <a:avLst/>
          </a:prstGeom>
          <a:noFill/>
        </p:spPr>
        <p:txBody>
          <a:bodyPr wrap="square" anchor="t" lIns="54864" tIns="36576" rIns="54864" bIns="36576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Calibri"/>
              </a:rPr>
              <a:t>val result := compute_mean(dataset := ..., column := "age",
filter := "diabetic == true");
println(result);</a:t>
            </a:r>
          </a:p>
        </p:txBody>
      </p:sp>
      <p:pic>
        <p:nvPicPr>
          <p:cNvPr id="13" name="Picture 12" descr="uv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5870448"/>
            <a:ext cx="822960" cy="822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3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5">
                                <p:txEl>
                                  <p:pR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5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6" presetID="1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5">
                                <p:txEl>
                                  <p:pRg st="1" end="1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8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9" presetID="1" presetClass="entr" presetSubtype="0" fill="hold" grpId="2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5">
                                <p:txEl>
                                  <p:pRg st="2" end="2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12" presetID="1" presetClass="entr" presetSubtype="0" fill="hold" grpId="3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5">
                                <p:txEl>
                                  <p:pRg st="3" end="3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5" grpId="0" uiExpand="1" build="p"/>
      <p:bldP spid="5" grpId="1" uiExpand="1" build="p"/>
      <p:bldP spid="5" grpId="2" uiExpand="1" build="p"/>
      <p:bldP spid="5" grpId="3" uiExpand="1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078992"/>
            <a:ext cx="73152" cy="544068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298448"/>
            <a:ext cx="106527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164592" tIns="54864" bIns="36576"/>
          <a:lstStyle/>
          <a:p>
            <a:pPr algn="l"/>
            <a:r>
              <a:rPr sz="1800" b="1">
                <a:solidFill>
                  <a:srgbClr val="BC0031"/>
                </a:solidFill>
                <a:latin typeface="Calibri"/>
              </a:rPr>
              <a:t>RQ1  </a:t>
            </a:r>
            <a:r>
              <a:rPr sz="1800">
                <a:solidFill>
                  <a:srgbClr val="222222"/>
                </a:solidFill>
                <a:latin typeface="Calibri"/>
              </a:rPr>
              <a:t>How does model scale affect translation accuracy?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298448"/>
            <a:ext cx="118872" cy="987552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496312"/>
            <a:ext cx="106527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164592" tIns="54864" bIns="36576"/>
          <a:lstStyle/>
          <a:p>
            <a:pPr algn="l"/>
            <a:r>
              <a:rPr sz="1800" b="1">
                <a:solidFill>
                  <a:srgbClr val="BC0031"/>
                </a:solidFill>
                <a:latin typeface="Calibri"/>
              </a:rPr>
              <a:t>RQ2  </a:t>
            </a:r>
            <a:r>
              <a:rPr sz="1800">
                <a:solidFill>
                  <a:srgbClr val="222222"/>
                </a:solidFill>
                <a:latin typeface="Calibri"/>
              </a:rPr>
              <a:t>What is the effect of retrieval, prompt engineering, and decomposition?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496312"/>
            <a:ext cx="118872" cy="987552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3694176"/>
            <a:ext cx="106527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164592" tIns="54864" bIns="36576"/>
          <a:lstStyle/>
          <a:p>
            <a:pPr algn="l"/>
            <a:r>
              <a:rPr sz="1800" b="1">
                <a:solidFill>
                  <a:srgbClr val="BC0031"/>
                </a:solidFill>
                <a:latin typeface="Calibri"/>
              </a:rPr>
              <a:t>RQ3  </a:t>
            </a:r>
            <a:r>
              <a:rPr sz="1800">
                <a:solidFill>
                  <a:srgbClr val="222222"/>
                </a:solidFill>
                <a:latin typeface="Calibri"/>
              </a:rPr>
              <a:t>Does supervised fine-tuning on domain examples improve accuracy?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694176"/>
            <a:ext cx="118872" cy="987552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65276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4048" rIns="164592" tIns="54864" bIns="36576"/>
          <a:lstStyle/>
          <a:p>
            <a:pPr algn="l"/>
            <a:r>
              <a:rPr sz="1800" b="1">
                <a:solidFill>
                  <a:srgbClr val="BC0031"/>
                </a:solidFill>
                <a:latin typeface="Calibri"/>
              </a:rPr>
              <a:t>RQ4  </a:t>
            </a:r>
            <a:r>
              <a:rPr sz="1800">
                <a:solidFill>
                  <a:srgbClr val="222222"/>
                </a:solidFill>
                <a:latin typeface="Calibri"/>
              </a:rPr>
              <a:t>Can a semantic cache provide reproducibility for equivalent intents?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892040"/>
            <a:ext cx="118872" cy="987552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uv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5870448"/>
            <a:ext cx="822960" cy="822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200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01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2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03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3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204" presetID="1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05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6" presetID="1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07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4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208" presetID="1" presetClass="entr" presetSubtype="0" fill="hold" grpId="2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09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10" presetID="1" presetClass="entr" presetSubtype="0" fill="hold" grpId="2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11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5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212" presetID="1" presetClass="entr" presetSubtype="0" fill="hold" grpId="3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13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14" presetID="1" presetClass="entr" presetSubtype="0" fill="hold" grpId="3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15" dur="1" fill="hold"/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02920"/>
          </a:xfrm>
          <a:prstGeom prst="rect">
            <a:avLst/>
          </a:prstGeom>
          <a:noFill/>
        </p:spPr>
        <p:txBody>
          <a:bodyPr wrap="square" anchor="t" lIns="54864" tIns="36576" rIns="54864" bIns="36576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32720" cy="411480"/>
          </a:xfrm>
          <a:prstGeom prst="rect">
            <a:avLst/>
          </a:prstGeom>
          <a:noFill/>
        </p:spPr>
        <p:txBody>
          <a:bodyPr wrap="square" anchor="t" lIns="54864" tIns="36576" rIns="54864" bIns="36576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Calibri"/>
              </a:rPr>
              <a:t>RAG · Decomposition · Generation · Cache</a:t>
            </a:r>
          </a:p>
        </p:txBody>
      </p:sp>
      <p:pic>
        <p:nvPicPr>
          <p:cNvPr id="4" name="Picture 3" descr="pipeline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676" y="1097280"/>
            <a:ext cx="5943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Dataset &amp; Evaluation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078992"/>
            <a:ext cx="73152" cy="544068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16736"/>
            <a:ext cx="5349240" cy="4434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>
                <a:solidFill>
                  <a:srgbClr val="BC0031"/>
                </a:solidFill>
                <a:latin typeface="Calibri"/>
              </a:rPr>
              <a:t>• </a:t>
            </a:r>
            <a:r>
              <a:rPr sz="1650">
                <a:solidFill>
                  <a:srgbClr val="222222"/>
                </a:solidFill>
                <a:latin typeface="Calibri"/>
              </a:rPr>
              <a:t>584 unique intent–BraneScript pairs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>
                <a:solidFill>
                  <a:srgbClr val="BC0031"/>
                </a:solidFill>
                <a:latin typeface="Calibri"/>
              </a:rPr>
              <a:t>• </a:t>
            </a:r>
            <a:r>
              <a:rPr sz="1650">
                <a:solidFill>
                  <a:srgbClr val="222222"/>
                </a:solidFill>
                <a:latin typeface="Calibri"/>
              </a:rPr>
              <a:t>7 domain packages: healthcare, genomics, epidemics, statistics, text analysis, data masking, datetime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>
                <a:solidFill>
                  <a:srgbClr val="BC0031"/>
                </a:solidFill>
                <a:latin typeface="Calibri"/>
              </a:rPr>
              <a:t>• </a:t>
            </a:r>
            <a:r>
              <a:rPr sz="1650">
                <a:solidFill>
                  <a:srgbClr val="222222"/>
                </a:solidFill>
                <a:latin typeface="Calibri"/>
              </a:rPr>
              <a:t>Split: 497 training / 87 test (stratified)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>
                <a:solidFill>
                  <a:srgbClr val="BC0031"/>
                </a:solidFill>
                <a:latin typeface="Calibri"/>
              </a:rPr>
              <a:t>• </a:t>
            </a:r>
            <a:r>
              <a:rPr sz="1650">
                <a:solidFill>
                  <a:srgbClr val="222222"/>
                </a:solidFill>
                <a:latin typeface="Calibri"/>
              </a:rPr>
              <a:t>3 paraphrases per intent → 1,752 cache evaluation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56832" y="1508760"/>
            <a:ext cx="4389120" cy="274320"/>
          </a:xfrm>
          <a:prstGeom prst="rect">
            <a:avLst/>
          </a:prstGeom>
          <a:noFill/>
        </p:spPr>
        <p:txBody>
          <a:bodyPr wrap="square" anchor="t" lIns="54864" tIns="36576" rIns="54864" bIns="36576">
            <a:spAutoFit/>
          </a:bodyPr>
          <a:lstStyle/>
          <a:p>
            <a:pPr algn="ctr"/>
            <a:r>
              <a:rPr sz="1600" b="1">
                <a:solidFill>
                  <a:srgbClr val="222222"/>
                </a:solidFill>
                <a:latin typeface="Calibri"/>
              </a:rPr>
              <a:t>Evaluation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240280"/>
            <a:ext cx="1572768" cy="987552"/>
          </a:xfrm>
          <a:prstGeom prst="roundRect">
            <a:avLst/>
          </a:prstGeom>
          <a:solidFill>
            <a:srgbClr val="BC0031"/>
          </a:solidFill>
          <a:ln w="12700">
            <a:solidFill>
              <a:srgbClr val="BC0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79" y="2404872"/>
            <a:ext cx="1389888" cy="566928"/>
          </a:xfrm>
          <a:prstGeom prst="rect">
            <a:avLst/>
          </a:prstGeom>
          <a:noFill/>
        </p:spPr>
        <p:txBody>
          <a:bodyPr wrap="square" anchor="ctr" lIns="54864" tIns="36576" rIns="54864" bIns="36576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Compile
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0768" y="2240280"/>
            <a:ext cx="1572768" cy="987552"/>
          </a:xfrm>
          <a:prstGeom prst="roundRect">
            <a:avLst/>
          </a:prstGeom>
          <a:solidFill>
            <a:srgbClr val="BC0031"/>
          </a:solidFill>
          <a:ln w="12700">
            <a:solidFill>
              <a:srgbClr val="BC0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2404872"/>
            <a:ext cx="1389888" cy="566928"/>
          </a:xfrm>
          <a:prstGeom prst="rect">
            <a:avLst/>
          </a:prstGeom>
          <a:noFill/>
        </p:spPr>
        <p:txBody>
          <a:bodyPr wrap="square" anchor="ctr" lIns="54864" tIns="36576" rIns="54864" bIns="36576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Execution
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69296" y="2240280"/>
            <a:ext cx="1572768" cy="987552"/>
          </a:xfrm>
          <a:prstGeom prst="roundRect">
            <a:avLst/>
          </a:prstGeom>
          <a:solidFill>
            <a:srgbClr val="BC0031"/>
          </a:solidFill>
          <a:ln w="12700">
            <a:solidFill>
              <a:srgbClr val="BC0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60736" y="2404872"/>
            <a:ext cx="1389888" cy="566928"/>
          </a:xfrm>
          <a:prstGeom prst="rect">
            <a:avLst/>
          </a:prstGeom>
          <a:noFill/>
        </p:spPr>
        <p:txBody>
          <a:bodyPr wrap="square" anchor="ctr" lIns="54864" tIns="36576" rIns="54864" bIns="36576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Output
match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2459736"/>
            <a:ext cx="274320" cy="228600"/>
          </a:xfrm>
          <a:prstGeom prst="rect">
            <a:avLst/>
          </a:prstGeom>
          <a:noFill/>
        </p:spPr>
        <p:txBody>
          <a:bodyPr wrap="square" anchor="t" lIns="54864" tIns="36576" rIns="54864" bIns="36576">
            <a:spAutoFit/>
          </a:bodyPr>
          <a:lstStyle/>
          <a:p>
            <a:pPr algn="ctr"/>
            <a:r>
              <a:rPr sz="2200" b="1">
                <a:solidFill>
                  <a:srgbClr val="BC0031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2459736"/>
            <a:ext cx="274320" cy="228600"/>
          </a:xfrm>
          <a:prstGeom prst="rect">
            <a:avLst/>
          </a:prstGeom>
          <a:noFill/>
        </p:spPr>
        <p:txBody>
          <a:bodyPr wrap="square" anchor="t" lIns="54864" tIns="36576" rIns="54864" bIns="36576">
            <a:spAutoFit/>
          </a:bodyPr>
          <a:lstStyle/>
          <a:p>
            <a:pPr algn="ctr"/>
            <a:r>
              <a:rPr sz="2200" b="1">
                <a:solidFill>
                  <a:srgbClr val="BC0031"/>
                </a:solidFill>
                <a:latin typeface="Calibri"/>
              </a:rPr>
              <a:t>→</a:t>
            </a:r>
          </a:p>
        </p:txBody>
      </p:sp>
      <p:pic>
        <p:nvPicPr>
          <p:cNvPr id="15" name="Picture 14" descr="uv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5870448"/>
            <a:ext cx="822960" cy="822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3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5">
                                <p:txEl>
                                  <p:pR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5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6" presetID="1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5">
                                <p:txEl>
                                  <p:pRg st="1" end="1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8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9" presetID="1" presetClass="entr" presetSubtype="0" fill="hold" grpId="2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5">
                                <p:txEl>
                                  <p:pRg st="2" end="2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12" presetID="1" presetClass="entr" presetSubtype="0" fill="hold" grpId="3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5">
                                <p:txEl>
                                  <p:pRg st="3" end="3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5" grpId="0" uiExpand="1" build="p"/>
      <p:bldP spid="5" grpId="1" uiExpand="1" build="p"/>
      <p:bldP spid="5" grpId="2" uiExpand="1" build="p"/>
      <p:bldP spid="5" grpId="3" uiExpand="1" build="p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RQ1 — Translation Accuracy Across Model Scales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078992"/>
            <a:ext cx="73152" cy="544068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ase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55280"/>
            <a:ext cx="6400800" cy="3949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160520" cy="39776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>
                <a:solidFill>
                  <a:srgbClr val="BC0031"/>
                </a:solidFill>
                <a:latin typeface="Calibri"/>
              </a:rPr>
              <a:t>• </a:t>
            </a:r>
            <a:r>
              <a:rPr sz="1650">
                <a:solidFill>
                  <a:srgbClr val="222222"/>
                </a:solidFill>
                <a:latin typeface="Calibri"/>
              </a:rPr>
              <a:t>Largest jump: 9B → 27B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>
                <a:solidFill>
                  <a:srgbClr val="BC0031"/>
                </a:solidFill>
                <a:latin typeface="Calibri"/>
              </a:rPr>
              <a:t>• </a:t>
            </a:r>
            <a:r>
              <a:rPr sz="1650">
                <a:solidFill>
                  <a:srgbClr val="222222"/>
                </a:solidFill>
                <a:latin typeface="Calibri"/>
              </a:rPr>
              <a:t>27B achieves 49.6% output match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>
                <a:solidFill>
                  <a:srgbClr val="BC0031"/>
                </a:solidFill>
                <a:latin typeface="Calibri"/>
              </a:rPr>
              <a:t>• </a:t>
            </a:r>
            <a:r>
              <a:rPr sz="1650">
                <a:solidFill>
                  <a:srgbClr val="222222"/>
                </a:solidFill>
                <a:latin typeface="Calibri"/>
              </a:rPr>
              <a:t>4B model dominated by undefined variable errors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>
                <a:solidFill>
                  <a:srgbClr val="BC0031"/>
                </a:solidFill>
                <a:latin typeface="Calibri"/>
              </a:rPr>
              <a:t>• </a:t>
            </a:r>
            <a:r>
              <a:rPr sz="1650">
                <a:solidFill>
                  <a:srgbClr val="222222"/>
                </a:solidFill>
                <a:latin typeface="Calibri"/>
              </a:rPr>
              <a:t>Scale is the strongest single lever</a:t>
            </a:r>
          </a:p>
        </p:txBody>
      </p:sp>
      <p:pic>
        <p:nvPicPr>
          <p:cNvPr id="7" name="Picture 6" descr="uva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5870448"/>
            <a:ext cx="822960" cy="822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3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6">
                                <p:txEl>
                                  <p:pR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5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6" presetID="1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6">
                                <p:txEl>
                                  <p:pRg st="1" end="1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8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9" presetID="1" presetClass="entr" presetSubtype="0" fill="hold" grpId="2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6">
                                <p:txEl>
                                  <p:pRg st="2" end="2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12" presetID="1" presetClass="entr" presetSubtype="0" fill="hold" grpId="3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6">
                                <p:txEl>
                                  <p:pRg st="3" end="3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6" grpId="0" uiExpand="1" build="p"/>
      <p:bldP spid="6" grpId="1" uiExpand="1" build="p"/>
      <p:bldP spid="6" grpId="2" uiExpand="1" build="p"/>
      <p:bldP spid="6" grpId="3" uiExpand="1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RQ1 — Error Type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078992"/>
            <a:ext cx="73152" cy="544068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rror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182" y="1371600"/>
            <a:ext cx="7106835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5504688"/>
            <a:ext cx="8823960" cy="292608"/>
          </a:xfrm>
          <a:prstGeom prst="rect">
            <a:avLst/>
          </a:prstGeom>
          <a:noFill/>
        </p:spPr>
        <p:txBody>
          <a:bodyPr wrap="square" anchor="t" lIns="54864" tIns="36576" rIns="54864" bIns="36576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Calibri"/>
              </a:rPr>
              <a:t>Error categories across model sizes. 27B largely eliminates compile failures.</a:t>
            </a:r>
          </a:p>
        </p:txBody>
      </p:sp>
      <p:pic>
        <p:nvPicPr>
          <p:cNvPr id="7" name="Picture 6" descr="uva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5870448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RQ2 — Effect of Prompt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078992"/>
            <a:ext cx="73152" cy="544068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aseline_firs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5930"/>
            <a:ext cx="6400800" cy="40484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160520" cy="39776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50" b="1">
                <a:solidFill>
                  <a:srgbClr val="BC0031"/>
                </a:solidFill>
                <a:latin typeface="Calibri"/>
              </a:rPr>
              <a:t>• </a:t>
            </a:r>
            <a:r>
              <a:rPr sz="1550">
                <a:solidFill>
                  <a:srgbClr val="222222"/>
                </a:solidFill>
                <a:latin typeface="Calibri"/>
              </a:rPr>
              <a:t>Same 27B weights — two rounds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50" b="1">
                <a:solidFill>
                  <a:srgbClr val="BC0031"/>
                </a:solidFill>
                <a:latin typeface="Calibri"/>
              </a:rPr>
              <a:t>• </a:t>
            </a:r>
            <a:r>
              <a:rPr sz="1550">
                <a:solidFill>
                  <a:srgbClr val="222222"/>
                </a:solidFill>
                <a:latin typeface="Calibri"/>
              </a:rPr>
              <a:t>Round 1: 13.5% output match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50" b="1">
                <a:solidFill>
                  <a:srgbClr val="BC0031"/>
                </a:solidFill>
                <a:latin typeface="Calibri"/>
              </a:rPr>
              <a:t>• </a:t>
            </a:r>
            <a:r>
              <a:rPr sz="1550">
                <a:solidFill>
                  <a:srgbClr val="222222"/>
                </a:solidFill>
                <a:latin typeface="Calibri"/>
              </a:rPr>
              <a:t>Round 2: 49.6% output match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50" b="1">
                <a:solidFill>
                  <a:srgbClr val="BC0031"/>
                </a:solidFill>
                <a:latin typeface="Calibri"/>
              </a:rPr>
              <a:t>• </a:t>
            </a:r>
            <a:r>
              <a:rPr sz="1550">
                <a:solidFill>
                  <a:srgbClr val="222222"/>
                </a:solidFill>
                <a:latin typeface="Calibri"/>
              </a:rPr>
              <a:t>+36.1 percentage points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50" b="1">
                <a:solidFill>
                  <a:srgbClr val="BC0031"/>
                </a:solidFill>
                <a:latin typeface="Calibri"/>
              </a:rPr>
              <a:t>• </a:t>
            </a:r>
            <a:r>
              <a:rPr sz="1550">
                <a:solidFill>
                  <a:srgbClr val="222222"/>
                </a:solidFill>
                <a:latin typeface="Calibri"/>
              </a:rPr>
              <a:t>⚠ Multiple variables changed simultaneously</a:t>
            </a:r>
          </a:p>
        </p:txBody>
      </p:sp>
      <p:pic>
        <p:nvPicPr>
          <p:cNvPr id="7" name="Picture 6" descr="uva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5870448"/>
            <a:ext cx="822960" cy="822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3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6">
                                <p:txEl>
                                  <p:pR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5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6" presetID="1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6">
                                <p:txEl>
                                  <p:pRg st="1" end="1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8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9" presetID="1" presetClass="entr" presetSubtype="0" fill="hold" grpId="2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6">
                                <p:txEl>
                                  <p:pRg st="2" end="2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12" presetID="1" presetClass="entr" presetSubtype="0" fill="hold" grpId="3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6">
                                <p:txEl>
                                  <p:pRg st="3" end="3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15" presetID="1" presetClass="entr" presetSubtype="0" fill="hold" grpId="4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6">
                                <p:txEl>
                                  <p:pRg st="4" end="4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6" grpId="0" uiExpand="1" build="p"/>
      <p:bldP spid="6" grpId="1" uiExpand="1" build="p"/>
      <p:bldP spid="6" grpId="2" uiExpand="1" build="p"/>
      <p:bldP spid="6" grpId="3" uiExpand="1" build="p"/>
      <p:bldP spid="6" grpId="4" uiExpand="1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RQ2 — Decomposition Ablation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078992"/>
            <a:ext cx="73152" cy="544068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comp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5930"/>
            <a:ext cx="6400800" cy="40484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160520" cy="39776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>
                <a:solidFill>
                  <a:srgbClr val="BC0031"/>
                </a:solidFill>
                <a:latin typeface="Calibri"/>
              </a:rPr>
              <a:t>• </a:t>
            </a:r>
            <a:r>
              <a:rPr sz="1650">
                <a:solidFill>
                  <a:srgbClr val="222222"/>
                </a:solidFill>
                <a:latin typeface="Calibri"/>
              </a:rPr>
              <a:t>Removing decomposition: −13.2 pp compile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>
                <a:solidFill>
                  <a:srgbClr val="BC0031"/>
                </a:solidFill>
                <a:latin typeface="Calibri"/>
              </a:rPr>
              <a:t>• </a:t>
            </a:r>
            <a:r>
              <a:rPr sz="1650">
                <a:solidFill>
                  <a:srgbClr val="222222"/>
                </a:solidFill>
                <a:latin typeface="Calibri"/>
              </a:rPr>
              <a:t>−16.8 pp execution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>
                <a:solidFill>
                  <a:srgbClr val="BC0031"/>
                </a:solidFill>
                <a:latin typeface="Calibri"/>
              </a:rPr>
              <a:t>• </a:t>
            </a:r>
            <a:r>
              <a:rPr sz="1650">
                <a:solidFill>
                  <a:srgbClr val="222222"/>
                </a:solidFill>
                <a:latin typeface="Calibri"/>
              </a:rPr>
              <a:t>−10.9 pp output match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650" b="1">
                <a:solidFill>
                  <a:srgbClr val="BC0031"/>
                </a:solidFill>
                <a:latin typeface="Calibri"/>
              </a:rPr>
              <a:t>• </a:t>
            </a:r>
            <a:r>
              <a:rPr sz="1650">
                <a:solidFill>
                  <a:srgbClr val="222222"/>
                </a:solidFill>
                <a:latin typeface="Calibri"/>
              </a:rPr>
              <a:t>Breaking intents into sub-intents is necessary</a:t>
            </a:r>
          </a:p>
        </p:txBody>
      </p:sp>
      <p:pic>
        <p:nvPicPr>
          <p:cNvPr id="7" name="Picture 6" descr="uva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5870448"/>
            <a:ext cx="822960" cy="822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3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6">
                                <p:txEl>
                                  <p:pR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5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6" presetID="1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6">
                                <p:txEl>
                                  <p:pRg st="1" end="1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8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9" presetID="1" presetClass="entr" presetSubtype="0" fill="hold" grpId="2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6">
                                <p:txEl>
                                  <p:pRg st="2" end="2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12" presetID="1" presetClass="entr" presetSubtype="0" fill="hold" grpId="3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6">
                                <p:txEl>
                                  <p:pRg st="3" end="3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6" grpId="0" uiExpand="1" build="p"/>
      <p:bldP spid="6" grpId="1" uiExpand="1" build="p"/>
      <p:bldP spid="6" grpId="2" uiExpand="1" build="p"/>
      <p:bldP spid="6" grpId="3" uiExpand="1" build="p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RQ2 — Output Match Sensitivity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078992"/>
            <a:ext cx="73152" cy="544068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enient_match_2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26" y="1389888"/>
            <a:ext cx="5452531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1444752"/>
            <a:ext cx="4069080" cy="256032"/>
          </a:xfrm>
          <a:prstGeom prst="rect">
            <a:avLst/>
          </a:prstGeom>
          <a:noFill/>
        </p:spPr>
        <p:txBody>
          <a:bodyPr wrap="square" anchor="t" lIns="54864" tIns="36576" rIns="54864" bIns="36576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Calibri"/>
              </a:rPr>
              <a:t>Why the strict metric misses some successes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56832" y="1783080"/>
            <a:ext cx="4681728" cy="43891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BC0031"/>
                </a:solidFill>
                <a:latin typeface="Calibri"/>
              </a:rPr>
              <a:t>• </a:t>
            </a:r>
            <a:r>
              <a:rPr sz="1500">
                <a:solidFill>
                  <a:srgbClr val="222222"/>
                </a:solidFill>
                <a:latin typeface="Calibri"/>
              </a:rPr>
              <a:t>Strict metric penalises correct computations with over-annotated output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BC0031"/>
                </a:solidFill>
                <a:latin typeface="Calibri"/>
              </a:rPr>
              <a:t>• </a:t>
            </a:r>
            <a:r>
              <a:rPr sz="1500">
                <a:solidFill>
                  <a:srgbClr val="222222"/>
                </a:solidFill>
                <a:latin typeface="Calibri"/>
              </a:rPr>
              <a:t>26/159 failures: correct values, wrong format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BC0031"/>
                </a:solidFill>
                <a:latin typeface="Calibri"/>
              </a:rPr>
              <a:t>• </a:t>
            </a:r>
            <a:r>
              <a:rPr sz="1500">
                <a:solidFill>
                  <a:srgbClr val="222222"/>
                </a:solidFill>
                <a:latin typeface="Calibri"/>
              </a:rPr>
              <a:t>Example: "52.27" vs "Mean: 52.27"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BC0031"/>
                </a:solidFill>
                <a:latin typeface="Calibri"/>
              </a:rPr>
              <a:t>• </a:t>
            </a:r>
            <a:r>
              <a:rPr sz="1500">
                <a:solidFill>
                  <a:srgbClr val="222222"/>
                </a:solidFill>
                <a:latin typeface="Calibri"/>
              </a:rPr>
              <a:t>Lenient: 49.6% → 66.0% (+16.4% of failures)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500" b="1">
                <a:solidFill>
                  <a:srgbClr val="BC0031"/>
                </a:solidFill>
                <a:latin typeface="Calibri"/>
              </a:rPr>
              <a:t>• </a:t>
            </a:r>
            <a:r>
              <a:rPr sz="1500">
                <a:solidFill>
                  <a:srgbClr val="222222"/>
                </a:solidFill>
                <a:latin typeface="Calibri"/>
              </a:rPr>
              <a:t>All primary results use strict metric</a:t>
            </a:r>
          </a:p>
        </p:txBody>
      </p:sp>
      <p:pic>
        <p:nvPicPr>
          <p:cNvPr id="8" name="Picture 7" descr="uva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5870448"/>
            <a:ext cx="822960" cy="822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3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7">
                                <p:txEl>
                                  <p:pR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5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6" presetID="1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7">
                                <p:txEl>
                                  <p:pRg st="1" end="1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8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9" presetID="1" presetClass="entr" presetSubtype="0" fill="hold" grpId="2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7">
                                <p:txEl>
                                  <p:pRg st="2" end="2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12" presetID="1" presetClass="entr" presetSubtype="0" fill="hold" grpId="3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7">
                                <p:txEl>
                                  <p:pRg st="3" end="3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15" presetID="1" presetClass="entr" presetSubtype="0" fill="hold" grpId="4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7">
                                <p:txEl>
                                  <p:pRg st="4" end="4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7" grpId="0" uiExpand="1" build="p"/>
      <p:bldP spid="7" grpId="1" uiExpand="1" build="p"/>
      <p:bldP spid="7" grpId="2" uiExpand="1" build="p"/>
      <p:bldP spid="7" grpId="3" uiExpand="1" build="p"/>
      <p:bldP spid="7" grpId="4" uiExpand="1" build="p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RQ3 — Effect of Supervised Fine-Tuning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078992"/>
            <a:ext cx="73152" cy="544068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f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56948"/>
            <a:ext cx="6400800" cy="39464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160520" cy="39776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70" b="1">
                <a:solidFill>
                  <a:srgbClr val="BC0031"/>
                </a:solidFill>
                <a:latin typeface="Calibri"/>
              </a:rPr>
              <a:t>• </a:t>
            </a:r>
            <a:r>
              <a:rPr sz="1570">
                <a:solidFill>
                  <a:srgbClr val="222222"/>
                </a:solidFill>
                <a:latin typeface="Calibri"/>
              </a:rPr>
              <a:t>3-epoch SFT: decline across all metrics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70" b="1">
                <a:solidFill>
                  <a:srgbClr val="BC0031"/>
                </a:solidFill>
                <a:latin typeface="Calibri"/>
              </a:rPr>
              <a:t>• </a:t>
            </a:r>
            <a:r>
              <a:rPr sz="1570">
                <a:solidFill>
                  <a:srgbClr val="222222"/>
                </a:solidFill>
                <a:latin typeface="Calibri"/>
              </a:rPr>
              <a:t>5-epoch SFT: near-total collapse (~0%)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70" b="1">
                <a:solidFill>
                  <a:srgbClr val="BC0031"/>
                </a:solidFill>
                <a:latin typeface="Calibri"/>
              </a:rPr>
              <a:t>• </a:t>
            </a:r>
            <a:r>
              <a:rPr sz="1570">
                <a:solidFill>
                  <a:srgbClr val="222222"/>
                </a:solidFill>
                <a:latin typeface="Calibri"/>
              </a:rPr>
              <a:t>Base model + good prompt outperforms SFT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70" b="1">
                <a:solidFill>
                  <a:srgbClr val="BC0031"/>
                </a:solidFill>
                <a:latin typeface="Calibri"/>
              </a:rPr>
              <a:t>• </a:t>
            </a:r>
            <a:r>
              <a:rPr sz="1570">
                <a:solidFill>
                  <a:srgbClr val="222222"/>
                </a:solidFill>
                <a:latin typeface="Calibri"/>
              </a:rPr>
              <a:t>Training data bootstrapped from same pipeline — likely limits signal</a:t>
            </a:r>
          </a:p>
        </p:txBody>
      </p:sp>
      <p:pic>
        <p:nvPicPr>
          <p:cNvPr id="7" name="Picture 6" descr="uva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5870448"/>
            <a:ext cx="822960" cy="822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3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6">
                                <p:txEl>
                                  <p:pR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5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6" presetID="1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6">
                                <p:txEl>
                                  <p:pRg st="1" end="1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8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9" presetID="1" presetClass="entr" presetSubtype="0" fill="hold" grpId="2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6">
                                <p:txEl>
                                  <p:pRg st="2" end="2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12" presetID="1" presetClass="entr" presetSubtype="0" fill="hold" grpId="3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6">
                                <p:txEl>
                                  <p:pRg st="3" end="3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6" grpId="0" uiExpand="1" build="p"/>
      <p:bldP spid="6" grpId="1" uiExpand="1" build="p"/>
      <p:bldP spid="6" grpId="2" uiExpand="1" build="p"/>
      <p:bldP spid="6" grpId="3" uiExpand="1" build="p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RQ4 — Semantic Cache as Reproducibility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078992"/>
            <a:ext cx="73152" cy="544068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ache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63396"/>
            <a:ext cx="6400800" cy="39335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554480"/>
            <a:ext cx="4160520" cy="3977639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40" b="1">
                <a:solidFill>
                  <a:srgbClr val="BC0031"/>
                </a:solidFill>
                <a:latin typeface="Calibri"/>
              </a:rPr>
              <a:t>• </a:t>
            </a:r>
            <a:r>
              <a:rPr sz="1540">
                <a:solidFill>
                  <a:srgbClr val="222222"/>
                </a:solidFill>
                <a:latin typeface="Calibri"/>
              </a:rPr>
              <a:t>At threshold 0.92: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40" b="1">
                <a:solidFill>
                  <a:srgbClr val="BC0031"/>
                </a:solidFill>
                <a:latin typeface="Calibri"/>
              </a:rPr>
              <a:t>• </a:t>
            </a:r>
            <a:r>
              <a:rPr sz="1540">
                <a:solidFill>
                  <a:srgbClr val="222222"/>
                </a:solidFill>
                <a:latin typeface="Calibri"/>
              </a:rPr>
              <a:t>Hit rate: 99.1%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40" b="1">
                <a:solidFill>
                  <a:srgbClr val="BC0031"/>
                </a:solidFill>
                <a:latin typeface="Calibri"/>
              </a:rPr>
              <a:t>• </a:t>
            </a:r>
            <a:r>
              <a:rPr sz="1540">
                <a:solidFill>
                  <a:srgbClr val="222222"/>
                </a:solidFill>
                <a:latin typeface="Calibri"/>
              </a:rPr>
              <a:t>Correct rate: 98.3%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40" b="1">
                <a:solidFill>
                  <a:srgbClr val="BC0031"/>
                </a:solidFill>
                <a:latin typeface="Calibri"/>
              </a:rPr>
              <a:t>• </a:t>
            </a:r>
            <a:r>
              <a:rPr sz="1540">
                <a:solidFill>
                  <a:srgbClr val="222222"/>
                </a:solidFill>
                <a:latin typeface="Calibri"/>
              </a:rPr>
              <a:t>False-positive rate: 0.8%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40" b="1">
                <a:solidFill>
                  <a:srgbClr val="BC0031"/>
                </a:solidFill>
                <a:latin typeface="Calibri"/>
              </a:rPr>
              <a:t>• </a:t>
            </a:r>
            <a:r>
              <a:rPr sz="1540">
                <a:solidFill>
                  <a:srgbClr val="222222"/>
                </a:solidFill>
                <a:latin typeface="Calibri"/>
              </a:rPr>
              <a:t>Threshold = confidence dial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40" b="1">
                <a:solidFill>
                  <a:srgbClr val="BC0031"/>
                </a:solidFill>
                <a:latin typeface="Calibri"/>
              </a:rPr>
              <a:t>• </a:t>
            </a:r>
            <a:r>
              <a:rPr sz="1540">
                <a:solidFill>
                  <a:srgbClr val="222222"/>
                </a:solidFill>
                <a:latin typeface="Calibri"/>
              </a:rPr>
              <a:t>Higher → fresh generation on uncertain matches</a:t>
            </a:r>
          </a:p>
        </p:txBody>
      </p:sp>
      <p:pic>
        <p:nvPicPr>
          <p:cNvPr id="7" name="Picture 6" descr="uva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392" y="5870448"/>
            <a:ext cx="822960" cy="822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3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6">
                                <p:txEl>
                                  <p:pR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5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6" presetID="1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6">
                                <p:txEl>
                                  <p:pRg st="1" end="1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8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9" presetID="1" presetClass="entr" presetSubtype="0" fill="hold" grpId="2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6">
                                <p:txEl>
                                  <p:pRg st="2" end="2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12" presetID="1" presetClass="entr" presetSubtype="0" fill="hold" grpId="3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6">
                                <p:txEl>
                                  <p:pRg st="3" end="3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15" presetID="1" presetClass="entr" presetSubtype="0" fill="hold" grpId="4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6">
                                <p:txEl>
                                  <p:pRg st="4" end="4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17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18" presetID="1" presetClass="entr" presetSubtype="0" fill="hold" grpId="5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9" dur="1" fill="hold"/>
                            <p:tgtEl>
                              <p:spTgt spid="6">
                                <p:txEl>
                                  <p:pRg st="5" end="5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6" grpId="0" uiExpand="1" build="p"/>
      <p:bldP spid="6" grpId="1" uiExpand="1" build="p"/>
      <p:bldP spid="6" grpId="2" uiExpand="1" build="p"/>
      <p:bldP spid="6" grpId="3" uiExpand="1" build="p"/>
      <p:bldP spid="6" grpId="4" uiExpand="1" build="p"/>
      <p:bldP spid="6" grpId="5" uiExpand="1" build="p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Threats to Validity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078992"/>
            <a:ext cx="73152" cy="544068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48840" y="1417320"/>
            <a:ext cx="903427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7824" y="1417320"/>
            <a:ext cx="1417320" cy="786384"/>
          </a:xfrm>
          <a:prstGeom prst="round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27632"/>
            <a:ext cx="1261872" cy="237744"/>
          </a:xfrm>
          <a:prstGeom prst="rect">
            <a:avLst/>
          </a:prstGeom>
          <a:noFill/>
        </p:spPr>
        <p:txBody>
          <a:bodyPr wrap="square" anchor="ctr" lIns="54864" tIns="36576" rIns="54864" bIns="36576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152" y="1600200"/>
            <a:ext cx="8595360" cy="310896"/>
          </a:xfrm>
          <a:prstGeom prst="rect">
            <a:avLst/>
          </a:prstGeom>
          <a:noFill/>
        </p:spPr>
        <p:txBody>
          <a:bodyPr wrap="square" anchor="t" lIns="54864" tIns="36576" rIns="54864" bIns="36576">
            <a:spAutoFit/>
          </a:bodyPr>
          <a:lstStyle/>
          <a:p>
            <a:pPr algn="l"/>
            <a:r>
              <a:rPr sz="1460" b="0">
                <a:solidFill>
                  <a:srgbClr val="222222"/>
                </a:solidFill>
                <a:latin typeface="Calibri"/>
              </a:rPr>
              <a:t>Round 1→2 multi-variable confound; SFT test/train overlap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2404872"/>
            <a:ext cx="9034272" cy="786384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" y="2404872"/>
            <a:ext cx="1417320" cy="786384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15184"/>
            <a:ext cx="1261872" cy="237744"/>
          </a:xfrm>
          <a:prstGeom prst="rect">
            <a:avLst/>
          </a:prstGeom>
          <a:noFill/>
        </p:spPr>
        <p:txBody>
          <a:bodyPr wrap="square" anchor="ctr" lIns="54864" tIns="36576" rIns="54864" bIns="36576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EXTERNAL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587752"/>
            <a:ext cx="8595360" cy="310896"/>
          </a:xfrm>
          <a:prstGeom prst="rect">
            <a:avLst/>
          </a:prstGeom>
          <a:noFill/>
        </p:spPr>
        <p:txBody>
          <a:bodyPr wrap="square" anchor="t" lIns="54864" tIns="36576" rIns="54864" bIns="36576">
            <a:spAutoFit/>
          </a:bodyPr>
          <a:lstStyle/>
          <a:p>
            <a:pPr algn="l"/>
            <a:r>
              <a:rPr sz="1460" b="0">
                <a:solidFill>
                  <a:srgbClr val="222222"/>
                </a:solidFill>
                <a:latin typeface="Calibri"/>
              </a:rPr>
              <a:t>Single DSL · single model family · English-only · single author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3392424"/>
            <a:ext cx="903427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7824" y="3392424"/>
            <a:ext cx="1417320" cy="786384"/>
          </a:xfrm>
          <a:prstGeom prst="round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602736"/>
            <a:ext cx="1261872" cy="237744"/>
          </a:xfrm>
          <a:prstGeom prst="rect">
            <a:avLst/>
          </a:prstGeom>
          <a:noFill/>
        </p:spPr>
        <p:txBody>
          <a:bodyPr wrap="square" anchor="ctr" lIns="54864" tIns="36576" rIns="54864" bIns="36576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CONSTRUCT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575304"/>
            <a:ext cx="8595360" cy="310896"/>
          </a:xfrm>
          <a:prstGeom prst="rect">
            <a:avLst/>
          </a:prstGeom>
          <a:noFill/>
        </p:spPr>
        <p:txBody>
          <a:bodyPr wrap="square" anchor="t" lIns="54864" tIns="36576" rIns="54864" bIns="36576">
            <a:spAutoFit/>
          </a:bodyPr>
          <a:lstStyle/>
          <a:p>
            <a:pPr algn="l"/>
            <a:r>
              <a:rPr sz="1460" b="0">
                <a:solidFill>
                  <a:srgbClr val="222222"/>
                </a:solidFill>
                <a:latin typeface="Calibri"/>
              </a:rPr>
              <a:t>Execution rate ≠ correctness; output match = string equality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4379976"/>
            <a:ext cx="9034272" cy="786384"/>
          </a:xfrm>
          <a:prstGeom prst="rect">
            <a:avLst/>
          </a:prstGeom>
          <a:solidFill>
            <a:srgbClr val="F0F0F0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7824" y="4379976"/>
            <a:ext cx="1417320" cy="786384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590288"/>
            <a:ext cx="1261872" cy="237744"/>
          </a:xfrm>
          <a:prstGeom prst="rect">
            <a:avLst/>
          </a:prstGeom>
          <a:noFill/>
        </p:spPr>
        <p:txBody>
          <a:bodyPr wrap="square" anchor="ctr" lIns="54864" tIns="36576" rIns="54864" bIns="36576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4562856"/>
            <a:ext cx="8595360" cy="310896"/>
          </a:xfrm>
          <a:prstGeom prst="rect">
            <a:avLst/>
          </a:prstGeom>
          <a:noFill/>
        </p:spPr>
        <p:txBody>
          <a:bodyPr wrap="square" anchor="t" lIns="54864" tIns="36576" rIns="54864" bIns="36576">
            <a:spAutoFit/>
          </a:bodyPr>
          <a:lstStyle/>
          <a:p>
            <a:pPr algn="l"/>
            <a:r>
              <a:rPr sz="1460" b="0">
                <a:solidFill>
                  <a:srgbClr val="222222"/>
                </a:solidFill>
                <a:latin typeface="Calibri"/>
              </a:rPr>
              <a:t>87-example test set; single trial per configuration</a:t>
            </a:r>
          </a:p>
        </p:txBody>
      </p:sp>
      <p:pic>
        <p:nvPicPr>
          <p:cNvPr id="21" name="Picture 20" descr="uv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5870448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078992"/>
            <a:ext cx="73152" cy="544068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81328"/>
            <a:ext cx="10195560" cy="4297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BC0031"/>
                </a:solidFill>
                <a:latin typeface="Calibri"/>
              </a:rPr>
              <a:t>• </a:t>
            </a:r>
            <a:r>
              <a:rPr sz="1800">
                <a:solidFill>
                  <a:srgbClr val="222222"/>
                </a:solidFill>
                <a:latin typeface="Calibri"/>
              </a:rPr>
              <a:t>Scale + prompt engineering: strongest lever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BC0031"/>
                </a:solidFill>
                <a:latin typeface="Calibri"/>
              </a:rPr>
              <a:t>• </a:t>
            </a:r>
            <a:r>
              <a:rPr sz="1800">
                <a:solidFill>
                  <a:srgbClr val="222222"/>
                </a:solidFill>
                <a:latin typeface="Calibri"/>
              </a:rPr>
              <a:t>~50% output match ceiling is structural (multi-step logic, package selection)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BC0031"/>
                </a:solidFill>
                <a:latin typeface="Calibri"/>
              </a:rPr>
              <a:t>• </a:t>
            </a:r>
            <a:r>
              <a:rPr sz="1800">
                <a:solidFill>
                  <a:srgbClr val="222222"/>
                </a:solidFill>
                <a:latin typeface="Calibri"/>
              </a:rPr>
              <a:t>Semantic cache: effective reproducibility layer — errors caught by execution verification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800" b="1">
                <a:solidFill>
                  <a:srgbClr val="BC0031"/>
                </a:solidFill>
                <a:latin typeface="Calibri"/>
              </a:rPr>
              <a:t>• </a:t>
            </a:r>
            <a:r>
              <a:rPr sz="1800">
                <a:solidFill>
                  <a:srgbClr val="222222"/>
                </a:solidFill>
                <a:latin typeface="Calibri"/>
              </a:rPr>
              <a:t>SFT negative result is itself informative: bootstrapped data insufficient</a:t>
            </a:r>
          </a:p>
        </p:txBody>
      </p:sp>
      <p:pic>
        <p:nvPicPr>
          <p:cNvPr id="6" name="Picture 5" descr="uv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5870448"/>
            <a:ext cx="822960" cy="822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3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5">
                                <p:txEl>
                                  <p:pR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5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6" presetID="1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5">
                                <p:txEl>
                                  <p:pRg st="1" end="1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8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9" presetID="1" presetClass="entr" presetSubtype="0" fill="hold" grpId="2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5">
                                <p:txEl>
                                  <p:pRg st="2" end="2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12" presetID="1" presetClass="entr" presetSubtype="0" fill="hold" grpId="3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5">
                                <p:txEl>
                                  <p:pRg st="3" end="3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5" grpId="0" uiExpand="1" build="p"/>
      <p:bldP spid="5" grpId="1" uiExpand="1" build="p"/>
      <p:bldP spid="5" grpId="2" uiExpand="1" build="p"/>
      <p:bldP spid="5" grpId="3" uiExpand="1" build="p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6304"/>
            <a:ext cx="1051560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" y="1078992"/>
            <a:ext cx="73152" cy="5440680"/>
          </a:xfrm>
          <a:prstGeom prst="rect">
            <a:avLst/>
          </a:prstGeom>
          <a:solidFill>
            <a:srgbClr val="BC0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44752"/>
            <a:ext cx="10195560" cy="4526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50" b="1">
                <a:solidFill>
                  <a:srgbClr val="BC0031"/>
                </a:solidFill>
                <a:latin typeface="Calibri"/>
              </a:rPr>
              <a:t>• </a:t>
            </a:r>
            <a:r>
              <a:rPr sz="1750">
                <a:solidFill>
                  <a:srgbClr val="222222"/>
                </a:solidFill>
                <a:latin typeface="Calibri"/>
              </a:rPr>
              <a:t>Controlled ablation of each component independently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50" b="1">
                <a:solidFill>
                  <a:srgbClr val="BC0031"/>
                </a:solidFill>
                <a:latin typeface="Calibri"/>
              </a:rPr>
              <a:t>• </a:t>
            </a:r>
            <a:r>
              <a:rPr sz="1750">
                <a:solidFill>
                  <a:srgbClr val="222222"/>
                </a:solidFill>
                <a:latin typeface="Calibri"/>
              </a:rPr>
              <a:t>Real scientist users as intent authors (diverse phrasing)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50" b="1">
                <a:solidFill>
                  <a:srgbClr val="BC0031"/>
                </a:solidFill>
                <a:latin typeface="Calibri"/>
              </a:rPr>
              <a:t>• </a:t>
            </a:r>
            <a:r>
              <a:rPr sz="1750">
                <a:solidFill>
                  <a:srgbClr val="222222"/>
                </a:solidFill>
                <a:latin typeface="Calibri"/>
              </a:rPr>
              <a:t>Closed-model comparison (GPT-4, Claude)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50" b="1">
                <a:solidFill>
                  <a:srgbClr val="BC0031"/>
                </a:solidFill>
                <a:latin typeface="Calibri"/>
              </a:rPr>
              <a:t>• </a:t>
            </a:r>
            <a:r>
              <a:rPr sz="1750">
                <a:solidFill>
                  <a:srgbClr val="222222"/>
                </a:solidFill>
                <a:latin typeface="Calibri"/>
              </a:rPr>
              <a:t>Parameter-aware cache embeddings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50" b="1">
                <a:solidFill>
                  <a:srgbClr val="BC0031"/>
                </a:solidFill>
                <a:latin typeface="Calibri"/>
              </a:rPr>
              <a:t>• </a:t>
            </a:r>
            <a:r>
              <a:rPr sz="1750">
                <a:solidFill>
                  <a:srgbClr val="222222"/>
                </a:solidFill>
                <a:latin typeface="Calibri"/>
              </a:rPr>
              <a:t>SFT with human-verified, independently authored training data</a:t>
            </a:r>
          </a:p>
        </p:txBody>
      </p:sp>
      <p:pic>
        <p:nvPicPr>
          <p:cNvPr id="6" name="Picture 5" descr="uv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392" y="5870448"/>
            <a:ext cx="822960" cy="822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whenNotActive" nodeType="tmRoot">
          <p:childTnLst>
            <p:par>
              <p:cTn id="2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3" presetID="1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5">
                                <p:txEl>
                                  <p:pRg st="0" end="0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5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6" presetID="1" presetClass="entr" presetSubtype="0" fill="hold" grpId="1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/>
                            <p:tgtEl>
                              <p:spTgt spid="5">
                                <p:txEl>
                                  <p:pRg st="1" end="1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8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9" presetID="1" presetClass="entr" presetSubtype="0" fill="hold" grpId="2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/>
                            <p:tgtEl>
                              <p:spTgt spid="5">
                                <p:txEl>
                                  <p:pRg st="2" end="2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11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12" presetID="1" presetClass="entr" presetSubtype="0" fill="hold" grpId="3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/>
                            <p:tgtEl>
                              <p:spTgt spid="5">
                                <p:txEl>
                                  <p:pRg st="3" end="3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evt="onClick" delay="0">
                    <p:tn>
                      <p:prevCondLst>
                        <p:cond evt="begin" delay="0"/>
                      </p:prevCondLst>
                    </p:tn>
                  </p:cond>
                </p:stCondLst>
                <p:childTnLst>
                  <p:par>
                    <p:cTn id="15" presetID="1" presetClass="entr" presetSubtype="0" fill="hold" grpId="4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/>
                            <p:tgtEl>
                              <p:spTgt spid="5">
                                <p:txEl>
                                  <p:pRg st="4" end="4"/>
                                </p:txEl>
                              </p:spTgt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par>
          </p:childTnLst>
        </p:cTn>
      </p:par>
    </p:tnLst>
    <p:bldLst>
      <p:bldP spid="5" grpId="0" uiExpand="1" build="p"/>
      <p:bldP spid="5" grpId="1" uiExpand="1" build="p"/>
      <p:bldP spid="5" grpId="2" uiExpand="1" build="p"/>
      <p:bldP spid="5" grpId="3" uiExpand="1" build="p"/>
      <p:bldP spid="5" grpId="4" uiExpand="1" build="p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C00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04672"/>
            <a:ext cx="10332720" cy="896112"/>
          </a:xfrm>
          <a:prstGeom prst="rect">
            <a:avLst/>
          </a:prstGeom>
          <a:noFill/>
        </p:spPr>
        <p:txBody>
          <a:bodyPr wrap="square" anchor="ctr" lIns="54864" tIns="36576" rIns="54864" bIns="36576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Calibri"/>
              </a:rPr>
              <a:t>Plain-English → BraneScript translation is feasible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2240280"/>
            <a:ext cx="9784080" cy="2377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• </a:t>
            </a:r>
            <a:r>
              <a:rPr sz="1700">
                <a:solidFill>
                  <a:srgbClr val="FFFFFF"/>
                </a:solidFill>
                <a:latin typeface="Calibri"/>
              </a:rPr>
              <a:t>27B + RAG + decomposition: 49.6% strict / 66% lenient output match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• </a:t>
            </a:r>
            <a:r>
              <a:rPr sz="1700">
                <a:solidFill>
                  <a:srgbClr val="FFFFFF"/>
                </a:solidFill>
                <a:latin typeface="Calibri"/>
              </a:rPr>
              <a:t>Prompt engineering as important as model scale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• </a:t>
            </a:r>
            <a:r>
              <a:rPr sz="1700">
                <a:solidFill>
                  <a:srgbClr val="FFFFFF"/>
                </a:solidFill>
                <a:latin typeface="Calibri"/>
              </a:rPr>
              <a:t>Semantic cache: 99.1% hit rate, 98.3% correct rate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• </a:t>
            </a:r>
            <a:r>
              <a:rPr sz="1700">
                <a:solidFill>
                  <a:srgbClr val="FFFFFF"/>
                </a:solidFill>
                <a:latin typeface="Calibri"/>
              </a:rPr>
              <a:t>SFT in this configuration does not help — a finding in itself</a:t>
            </a:r>
          </a:p>
        </p:txBody>
      </p:sp>
      <p:pic>
        <p:nvPicPr>
          <p:cNvPr id="4" name="Picture 3" descr="uva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944" y="5010912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36592" y="5961888"/>
            <a:ext cx="2743200" cy="292608"/>
          </a:xfrm>
          <a:prstGeom prst="rect">
            <a:avLst/>
          </a:prstGeom>
          <a:noFill/>
        </p:spPr>
        <p:txBody>
          <a:bodyPr wrap="square" anchor="t" lIns="54864" tIns="36576" rIns="54864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